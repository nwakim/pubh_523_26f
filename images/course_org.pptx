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F3E0"/>
    <a:srgbClr val="F49F1A"/>
    <a:srgbClr val="FDEBD0"/>
    <a:srgbClr val="FBEAF1"/>
    <a:srgbClr val="D02770"/>
    <a:srgbClr val="FBECE9"/>
    <a:srgbClr val="F6D6D2"/>
    <a:srgbClr val="DAECFE"/>
    <a:srgbClr val="3070BF"/>
    <a:srgbClr val="D0DD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D7EF720-F500-634C-BDDB-3E2EE2B68269}" v="6" dt="2026-06-15T04:01:37.1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61"/>
    <p:restoredTop sz="94658"/>
  </p:normalViewPr>
  <p:slideViewPr>
    <p:cSldViewPr snapToGrid="0">
      <p:cViewPr>
        <p:scale>
          <a:sx n="120" d="100"/>
          <a:sy n="120" d="100"/>
        </p:scale>
        <p:origin x="520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A01FB-7D93-FBEB-BFF3-B8342F369A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50995D-82CA-5F3F-0119-5494C06277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DDD97-07A7-B22A-4235-15E311924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A7F6A-0C97-0BD8-86E6-D75DA546F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C09026-A70D-39A9-D65C-8A82918EE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192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DAC296-1665-F93F-6C7D-075E82C49F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941B-9D1B-5DFF-152B-1496646801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03D88-FC58-853D-6974-5EC51F0D5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E0093E-2F38-4116-DAEF-CE58B134D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9EB45-D5CA-71DB-D1DA-06489C34D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048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9CC85-275F-B524-7944-283A4C4C01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FA7658-25BA-5D54-6525-86CEEA8B13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B27A8-5CA1-A2B5-D516-CF652F093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99852-E8F9-7DF9-33E2-A14D46BBE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9606E9-CDF7-F631-9813-979C5ECA8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704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E29AA1-A50E-88E9-EDE0-AC9133DF3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AAD2E1-3127-A6EA-D783-A87A540EA5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215662-5E9C-E8F6-FF07-69A944C83F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2BDD85-16F9-939B-CAA8-A380A811C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29ADA-00B3-7CCC-2514-7390299F0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D13FD8-F32C-C131-9AF5-04948983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809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50569-7B9A-0D77-F2E3-418F647B20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633BFD-8470-8AED-9804-C8D9B63385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DDD47D-7252-5E3C-7616-54F187F6D8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416A9B-C517-1A41-F6C1-28E3A8283F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A5B1F83-9FE0-3ED7-0D52-C17854D7B29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064499-F7EF-807A-E7DF-CB6102448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55D0B3-7269-D093-4751-A71F279C78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B9F6C52-C012-38F4-0FEE-7136A4557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1577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19645-D2FE-9B8B-F371-633CB533D4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1592787-89E0-ADC7-5C22-3271F63C1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6291E5-C811-CD7D-5EA2-CC19BEE38B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CE030D-9D3E-9D5A-55A2-B2DD0D7CE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172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933635-4194-045B-77F1-C0F1BF232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9E6924-BD7D-FA80-F4C2-642F2EBA2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562CB-6AB5-8EEC-FA6F-D8953F0CE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400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938F7B-A333-D5B8-5886-1FFC5C807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28E1E1-F1C0-210F-ED26-9897706573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EBA034-3759-72B1-4327-75D7318422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7828C9-B24F-20EA-03D3-CF8E468171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3C68D-2060-7A0D-D152-A776E1582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6BA75E-2A71-DB24-1D94-CC470ACFC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987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D4ABE-3BA3-419D-A52D-3C80B2BE0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B8B517-A959-6562-467D-DF5C118C42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1B0A89-72B3-F29A-FBE7-2E0B4212AD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3991A9-ABBE-C995-EADA-ECAEEFB1D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35F4F4-38F0-1735-24E6-EC5ECFB6D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BCA748-5152-FDD1-7986-643794C30C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3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B53DD-991E-FC16-CC90-D60F4D9CA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B88C45-85AF-C05E-DB93-56B8CE068B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F32EB-787B-FB1C-CCD5-6E49954E7F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2A1961-A20C-B0E0-3FFA-46752D128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B2E9A8-D761-1E4B-96B2-9A0EEE136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42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13FE40-1766-0FC6-BE87-3BF84A4FFB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4EB580-84CE-C9F3-665C-1EE592D9A0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ADE1E4-F034-B65F-9A05-FF6DAB18D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267466-A304-6872-BEEE-BC8E1FA39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7BDF0D-1DDA-1874-9B8F-A37D4CEFE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08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DE8336-E3DA-6199-3FE5-9D5653CBB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91AF6B-039B-66C8-E51D-0CA6968858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3910D6-B281-45FD-C6F0-02C89DCB44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DC3650-7ACC-8041-997F-9A29A21F8E12}" type="datetimeFigureOut">
              <a:rPr lang="en-US" smtClean="0"/>
              <a:t>6/14/26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63CC9E-3C39-2063-FAD3-9689EC5C2D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499C9F-4E13-6C0F-F442-7D6BA05AC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C2B3C7-7069-FD43-91C5-25256396C9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88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D2FE2B74-FD3D-B639-363F-264FA5A425B2}"/>
              </a:ext>
            </a:extLst>
          </p:cNvPr>
          <p:cNvGrpSpPr/>
          <p:nvPr/>
        </p:nvGrpSpPr>
        <p:grpSpPr>
          <a:xfrm>
            <a:off x="2258458" y="1916935"/>
            <a:ext cx="9397388" cy="2478795"/>
            <a:chOff x="2258458" y="1916935"/>
            <a:chExt cx="9397388" cy="2478795"/>
          </a:xfrm>
        </p:grpSpPr>
        <p:sp>
          <p:nvSpPr>
            <p:cNvPr id="4" name="Rounded Rectangle 3">
              <a:extLst>
                <a:ext uri="{FF2B5EF4-FFF2-40B4-BE49-F238E27FC236}">
                  <a16:creationId xmlns:a16="http://schemas.microsoft.com/office/drawing/2014/main" id="{FC160A2B-05F6-62CE-8CDF-BDCE087CA139}"/>
                </a:ext>
              </a:extLst>
            </p:cNvPr>
            <p:cNvSpPr/>
            <p:nvPr/>
          </p:nvSpPr>
          <p:spPr>
            <a:xfrm>
              <a:off x="2258458" y="1916935"/>
              <a:ext cx="9397388" cy="2478795"/>
            </a:xfrm>
            <a:prstGeom prst="roundRect">
              <a:avLst/>
            </a:prstGeom>
            <a:solidFill>
              <a:schemeClr val="bg2">
                <a:lumMod val="90000"/>
                <a:alpha val="29804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chemeClr val="bg2">
                      <a:lumMod val="50000"/>
                    </a:schemeClr>
                  </a:solidFill>
                  <a:latin typeface="Lato" panose="020F0502020204030203" pitchFamily="34" charset="77"/>
                </a:rPr>
                <a:t>Rigor and Reproducibility</a:t>
              </a:r>
            </a:p>
          </p:txBody>
        </p:sp>
        <p:sp>
          <p:nvSpPr>
            <p:cNvPr id="6" name="Rounded Rectangle 3">
              <a:extLst>
                <a:ext uri="{FF2B5EF4-FFF2-40B4-BE49-F238E27FC236}">
                  <a16:creationId xmlns:a16="http://schemas.microsoft.com/office/drawing/2014/main" id="{19B947BD-F484-3DAC-7A80-35A35E747633}"/>
                </a:ext>
              </a:extLst>
            </p:cNvPr>
            <p:cNvSpPr/>
            <p:nvPr/>
          </p:nvSpPr>
          <p:spPr>
            <a:xfrm>
              <a:off x="2379643" y="2412694"/>
              <a:ext cx="9166034" cy="1861851"/>
            </a:xfrm>
            <a:prstGeom prst="roundRect">
              <a:avLst/>
            </a:prstGeom>
            <a:solidFill>
              <a:srgbClr val="DAECF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en-US" dirty="0">
                  <a:solidFill>
                    <a:srgbClr val="5BAFF8"/>
                  </a:solidFill>
                  <a:latin typeface="Lato" panose="020F0502020204030203" pitchFamily="34" charset="77"/>
                </a:rPr>
                <a:t>Best Practices in R</a:t>
              </a:r>
            </a:p>
          </p:txBody>
        </p:sp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30EDE76C-9213-F484-098B-BD1D359BBC8E}"/>
                </a:ext>
              </a:extLst>
            </p:cNvPr>
            <p:cNvSpPr/>
            <p:nvPr/>
          </p:nvSpPr>
          <p:spPr>
            <a:xfrm>
              <a:off x="2714483" y="2908452"/>
              <a:ext cx="8460958" cy="548640"/>
            </a:xfrm>
            <a:prstGeom prst="roundRect">
              <a:avLst/>
            </a:prstGeom>
            <a:solidFill>
              <a:srgbClr val="FCF2F7"/>
            </a:solidFill>
            <a:ln w="3810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EF85B3"/>
                  </a:solidFill>
                  <a:latin typeface="Lato" panose="020F0502020204030203" pitchFamily="34" charset="77"/>
                </a:rPr>
                <a:t>R Basics</a:t>
              </a:r>
            </a:p>
          </p:txBody>
        </p:sp>
        <p:sp>
          <p:nvSpPr>
            <p:cNvPr id="9" name="Rounded Rectangle 8">
              <a:extLst>
                <a:ext uri="{FF2B5EF4-FFF2-40B4-BE49-F238E27FC236}">
                  <a16:creationId xmlns:a16="http://schemas.microsoft.com/office/drawing/2014/main" id="{BAF07B5A-E690-B5C0-9E0F-B057780893F2}"/>
                </a:ext>
              </a:extLst>
            </p:cNvPr>
            <p:cNvSpPr/>
            <p:nvPr/>
          </p:nvSpPr>
          <p:spPr>
            <a:xfrm>
              <a:off x="2714483" y="3607602"/>
              <a:ext cx="2743200" cy="548640"/>
            </a:xfrm>
            <a:prstGeom prst="roundRect">
              <a:avLst/>
            </a:prstGeom>
            <a:solidFill>
              <a:srgbClr val="D0DDF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3070BF"/>
                  </a:solidFill>
                  <a:latin typeface="Lato" panose="020F0502020204030203" pitchFamily="34" charset="77"/>
                </a:rPr>
                <a:t>Data transformation</a:t>
              </a:r>
            </a:p>
          </p:txBody>
        </p:sp>
        <p:sp>
          <p:nvSpPr>
            <p:cNvPr id="10" name="Rounded Rectangle 9">
              <a:extLst>
                <a:ext uri="{FF2B5EF4-FFF2-40B4-BE49-F238E27FC236}">
                  <a16:creationId xmlns:a16="http://schemas.microsoft.com/office/drawing/2014/main" id="{05C3A73D-E638-79F6-E7EC-21CCEF90C052}"/>
                </a:ext>
              </a:extLst>
            </p:cNvPr>
            <p:cNvSpPr/>
            <p:nvPr/>
          </p:nvSpPr>
          <p:spPr>
            <a:xfrm>
              <a:off x="5573362" y="3607602"/>
              <a:ext cx="2743200" cy="548640"/>
            </a:xfrm>
            <a:prstGeom prst="roundRect">
              <a:avLst/>
            </a:prstGeom>
            <a:solidFill>
              <a:srgbClr val="D9E8E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459B99"/>
                  </a:solidFill>
                  <a:latin typeface="Lato" panose="020F0502020204030203" pitchFamily="34" charset="77"/>
                </a:rPr>
                <a:t>Data summarization</a:t>
              </a:r>
            </a:p>
          </p:txBody>
        </p:sp>
        <p:sp>
          <p:nvSpPr>
            <p:cNvPr id="11" name="Rounded Rectangle 10">
              <a:extLst>
                <a:ext uri="{FF2B5EF4-FFF2-40B4-BE49-F238E27FC236}">
                  <a16:creationId xmlns:a16="http://schemas.microsoft.com/office/drawing/2014/main" id="{1A97C986-1839-127E-8548-44663F5F35AF}"/>
                </a:ext>
              </a:extLst>
            </p:cNvPr>
            <p:cNvSpPr/>
            <p:nvPr/>
          </p:nvSpPr>
          <p:spPr>
            <a:xfrm>
              <a:off x="8432241" y="3607602"/>
              <a:ext cx="2743200" cy="548640"/>
            </a:xfrm>
            <a:prstGeom prst="roundRect">
              <a:avLst/>
            </a:prstGeom>
            <a:solidFill>
              <a:srgbClr val="F6D6D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rgbClr val="C83532"/>
                  </a:solidFill>
                  <a:latin typeface="Lato" panose="020F0502020204030203" pitchFamily="34" charset="77"/>
                </a:rPr>
                <a:t>Data visualization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5E266C0-969B-D8C6-E2E9-36D8B56ABC14}"/>
              </a:ext>
            </a:extLst>
          </p:cNvPr>
          <p:cNvSpPr/>
          <p:nvPr/>
        </p:nvSpPr>
        <p:spPr>
          <a:xfrm>
            <a:off x="-484742" y="1002535"/>
            <a:ext cx="1410159" cy="1333041"/>
          </a:xfrm>
          <a:prstGeom prst="rect">
            <a:avLst/>
          </a:prstGeom>
          <a:solidFill>
            <a:srgbClr val="D0DD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52D58A49-BDAB-15D0-E55B-13D6BA0A4192}"/>
              </a:ext>
            </a:extLst>
          </p:cNvPr>
          <p:cNvSpPr/>
          <p:nvPr/>
        </p:nvSpPr>
        <p:spPr>
          <a:xfrm>
            <a:off x="758989" y="4891488"/>
            <a:ext cx="1620653" cy="407625"/>
          </a:xfrm>
          <a:prstGeom prst="roundRect">
            <a:avLst/>
          </a:prstGeom>
          <a:solidFill>
            <a:srgbClr val="FEF3E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F49F1A"/>
                </a:solidFill>
                <a:latin typeface="Lato" panose="020F0502020204030203" pitchFamily="34" charset="77"/>
              </a:rPr>
              <a:t>Rigor &amp; </a:t>
            </a:r>
            <a:r>
              <a:rPr lang="en-US" sz="1600" dirty="0" err="1">
                <a:solidFill>
                  <a:srgbClr val="F49F1A"/>
                </a:solidFill>
                <a:latin typeface="Lato" panose="020F0502020204030203" pitchFamily="34" charset="77"/>
              </a:rPr>
              <a:t>Repr</a:t>
            </a:r>
            <a:endParaRPr lang="en-US" sz="1600" dirty="0">
              <a:solidFill>
                <a:srgbClr val="F49F1A"/>
              </a:solidFill>
              <a:latin typeface="Lato" panose="020F0502020204030203" pitchFamily="34" charset="77"/>
            </a:endParaRP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D960B044-8C17-8B59-C6D8-BA8F983DE99A}"/>
              </a:ext>
            </a:extLst>
          </p:cNvPr>
          <p:cNvSpPr/>
          <p:nvPr/>
        </p:nvSpPr>
        <p:spPr>
          <a:xfrm>
            <a:off x="758989" y="5348690"/>
            <a:ext cx="1620653" cy="407626"/>
          </a:xfrm>
          <a:prstGeom prst="roundRect">
            <a:avLst/>
          </a:prstGeom>
          <a:solidFill>
            <a:srgbClr val="DAECF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5BAFF8"/>
                </a:solidFill>
                <a:latin typeface="Lato" panose="020F0502020204030203" pitchFamily="34" charset="77"/>
              </a:rPr>
              <a:t>Best </a:t>
            </a:r>
            <a:r>
              <a:rPr lang="en-US" sz="1600" dirty="0" err="1">
                <a:solidFill>
                  <a:srgbClr val="5BAFF8"/>
                </a:solidFill>
                <a:latin typeface="Lato" panose="020F0502020204030203" pitchFamily="34" charset="77"/>
              </a:rPr>
              <a:t>Pract</a:t>
            </a:r>
            <a:r>
              <a:rPr lang="en-US" sz="1600" dirty="0">
                <a:solidFill>
                  <a:srgbClr val="5BAFF8"/>
                </a:solidFill>
                <a:latin typeface="Lato" panose="020F0502020204030203" pitchFamily="34" charset="77"/>
              </a:rPr>
              <a:t> in R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3E085697-0EDB-4C20-F8EC-A8E741D7891E}"/>
              </a:ext>
            </a:extLst>
          </p:cNvPr>
          <p:cNvSpPr/>
          <p:nvPr/>
        </p:nvSpPr>
        <p:spPr>
          <a:xfrm>
            <a:off x="758989" y="4459074"/>
            <a:ext cx="1620653" cy="407626"/>
          </a:xfrm>
          <a:prstGeom prst="roundRect">
            <a:avLst/>
          </a:prstGeom>
          <a:solidFill>
            <a:srgbClr val="FCF2F7"/>
          </a:solidFill>
          <a:ln w="381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EF85B3"/>
                </a:solidFill>
                <a:latin typeface="Lato" panose="020F0502020204030203" pitchFamily="34" charset="77"/>
              </a:rPr>
              <a:t>R Basics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8F740BC5-E5A6-7F2F-12DF-2B84055DC828}"/>
              </a:ext>
            </a:extLst>
          </p:cNvPr>
          <p:cNvSpPr/>
          <p:nvPr/>
        </p:nvSpPr>
        <p:spPr>
          <a:xfrm>
            <a:off x="758989" y="6279740"/>
            <a:ext cx="1620652" cy="403641"/>
          </a:xfrm>
          <a:prstGeom prst="roundRect">
            <a:avLst/>
          </a:prstGeom>
          <a:solidFill>
            <a:srgbClr val="D0DDF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3070BF"/>
                </a:solidFill>
                <a:latin typeface="Lato" panose="020F0502020204030203" pitchFamily="34" charset="77"/>
              </a:rPr>
              <a:t>Data transform</a:t>
            </a:r>
          </a:p>
        </p:txBody>
      </p: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4953F686-538B-367D-E158-237D8952A3D5}"/>
              </a:ext>
            </a:extLst>
          </p:cNvPr>
          <p:cNvSpPr/>
          <p:nvPr/>
        </p:nvSpPr>
        <p:spPr>
          <a:xfrm>
            <a:off x="758990" y="5805893"/>
            <a:ext cx="1620652" cy="407626"/>
          </a:xfrm>
          <a:prstGeom prst="roundRect">
            <a:avLst/>
          </a:prstGeom>
          <a:solidFill>
            <a:srgbClr val="D9E8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459B99"/>
                </a:solidFill>
                <a:latin typeface="Lato" panose="020F0502020204030203" pitchFamily="34" charset="77"/>
              </a:rPr>
              <a:t>Data </a:t>
            </a:r>
            <a:r>
              <a:rPr lang="en-US" sz="1600" dirty="0" err="1">
                <a:solidFill>
                  <a:srgbClr val="459B99"/>
                </a:solidFill>
                <a:latin typeface="Lato" panose="020F0502020204030203" pitchFamily="34" charset="77"/>
              </a:rPr>
              <a:t>summ</a:t>
            </a:r>
            <a:endParaRPr lang="en-US" sz="1600" dirty="0">
              <a:solidFill>
                <a:srgbClr val="459B99"/>
              </a:solidFill>
              <a:latin typeface="Lato" panose="020F0502020204030203" pitchFamily="34" charset="77"/>
            </a:endParaRPr>
          </a:p>
        </p:txBody>
      </p: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769D2686-B03B-535D-1EC3-0A2C3E2B9806}"/>
              </a:ext>
            </a:extLst>
          </p:cNvPr>
          <p:cNvSpPr/>
          <p:nvPr/>
        </p:nvSpPr>
        <p:spPr>
          <a:xfrm>
            <a:off x="758989" y="4014312"/>
            <a:ext cx="1620652" cy="403641"/>
          </a:xfrm>
          <a:prstGeom prst="roundRect">
            <a:avLst/>
          </a:prstGeom>
          <a:solidFill>
            <a:srgbClr val="FBECE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rgbClr val="C83532"/>
                </a:solidFill>
                <a:latin typeface="Lato" panose="020F0502020204030203" pitchFamily="34" charset="77"/>
              </a:rPr>
              <a:t>Data viz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FF0C6E4-DE05-5F77-0DFD-C68E18118A83}"/>
              </a:ext>
            </a:extLst>
          </p:cNvPr>
          <p:cNvSpPr/>
          <p:nvPr/>
        </p:nvSpPr>
        <p:spPr>
          <a:xfrm>
            <a:off x="1562986" y="839972"/>
            <a:ext cx="1371600" cy="946298"/>
          </a:xfrm>
          <a:prstGeom prst="rect">
            <a:avLst/>
          </a:prstGeom>
          <a:solidFill>
            <a:srgbClr val="FBEA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047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2550</TotalTime>
  <Words>30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Lato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Nicky Wakim</dc:creator>
  <cp:lastModifiedBy>Nicky Wakim</cp:lastModifiedBy>
  <cp:revision>1</cp:revision>
  <dcterms:created xsi:type="dcterms:W3CDTF">2026-06-15T03:29:52Z</dcterms:created>
  <dcterms:modified xsi:type="dcterms:W3CDTF">2026-06-16T22:00:37Z</dcterms:modified>
</cp:coreProperties>
</file>